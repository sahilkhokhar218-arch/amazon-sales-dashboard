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Discounted Price (₹M)</c:v>
                </c:pt>
              </c:strCache>
            </c:strRef>
          </c:tx>
          <c:spPr>
            <a:solidFill>
              <a:srgbClr val="0F255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528-44D5-A071-2F99EEFA46CB}"/>
              </c:ext>
            </c:extLst>
          </c:dPt>
          <c:dPt>
            <c:idx val="1"/>
            <c:invertIfNegative val="0"/>
            <c:bubble3D val="0"/>
            <c:spPr>
              <a:solidFill>
                <a:srgbClr val="1A3A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528-44D5-A071-2F99EEFA46CB}"/>
              </c:ext>
            </c:extLst>
          </c:dPt>
          <c:dPt>
            <c:idx val="2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528-44D5-A071-2F99EEFA46CB}"/>
              </c:ext>
            </c:extLst>
          </c:dPt>
          <c:dPt>
            <c:idx val="3"/>
            <c:invertIfNegative val="0"/>
            <c:bubble3D val="0"/>
            <c:spPr>
              <a:solidFill>
                <a:srgbClr val="14A8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528-44D5-A071-2F99EEFA46CB}"/>
              </c:ext>
            </c:extLst>
          </c:dPt>
          <c:dPt>
            <c:idx val="4"/>
            <c:invertIfNegative val="0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528-44D5-A071-2F99EEFA46CB}"/>
              </c:ext>
            </c:extLst>
          </c:dPt>
          <c:dPt>
            <c:idx val="5"/>
            <c:invertIfNegative val="0"/>
            <c:bubble3D val="0"/>
            <c:spPr>
              <a:solidFill>
                <a:srgbClr val="FFB8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528-44D5-A071-2F99EEFA46C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Electronics (Home)</c:v>
                </c:pt>
                <c:pt idx="1">
                  <c:v>Electronics (Acc)</c:v>
                </c:pt>
                <c:pt idx="2">
                  <c:v>Computers&amp;Acc (1)</c:v>
                </c:pt>
                <c:pt idx="3">
                  <c:v>Computers&amp;Acc (2)</c:v>
                </c:pt>
                <c:pt idx="4">
                  <c:v>Home&amp;Kitchen (1)</c:v>
                </c:pt>
                <c:pt idx="5">
                  <c:v>Home&amp;Kitchen (2)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2100000</c:v>
                </c:pt>
                <c:pt idx="1">
                  <c:v>1850000</c:v>
                </c:pt>
                <c:pt idx="2">
                  <c:v>1400000</c:v>
                </c:pt>
                <c:pt idx="3">
                  <c:v>1250000</c:v>
                </c:pt>
                <c:pt idx="4">
                  <c:v>950000</c:v>
                </c:pt>
                <c:pt idx="5">
                  <c:v>780000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528-44D5-A071-2F99EEFA46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93B"/>
                </a:solidFill>
                <a:latin typeface="Arial"/>
              </a:rPr>
              <a:t>Ratings by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Rating</c:v>
                </c:pt>
              </c:strCache>
            </c:strRef>
          </c:tx>
          <c:spPr>
            <a:solidFill>
              <a:srgbClr val="0F255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A95-48CE-9DF9-34581AB7606D}"/>
              </c:ext>
            </c:extLst>
          </c:dPt>
          <c:dPt>
            <c:idx val="1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95-48CE-9DF9-34581AB7606D}"/>
              </c:ext>
            </c:extLst>
          </c:dPt>
          <c:dPt>
            <c:idx val="2"/>
            <c:invertIfNegative val="0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A95-48CE-9DF9-34581AB7606D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A95-48CE-9DF9-34581AB7606D}"/>
              </c:ext>
            </c:extLst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A95-48CE-9DF9-34581AB7606D}"/>
              </c:ext>
            </c:extLst>
          </c:dPt>
          <c:dPt>
            <c:idx val="5"/>
            <c:invertIfNegative val="0"/>
            <c:bubble3D val="0"/>
            <c:spPr>
              <a:solidFill>
                <a:srgbClr val="E8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A95-48CE-9DF9-34581AB7606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Computers</c:v>
                </c:pt>
                <c:pt idx="2">
                  <c:v>Home&amp;Kitchen</c:v>
                </c:pt>
                <c:pt idx="3">
                  <c:v>MusicalInstr.</c:v>
                </c:pt>
                <c:pt idx="4">
                  <c:v>OfficeProducts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950</c:v>
                </c:pt>
                <c:pt idx="1">
                  <c:v>820</c:v>
                </c:pt>
                <c:pt idx="2">
                  <c:v>680</c:v>
                </c:pt>
                <c:pt idx="3">
                  <c:v>420</c:v>
                </c:pt>
                <c:pt idx="4">
                  <c:v>310</c:v>
                </c:pt>
                <c:pt idx="5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A95-48CE-9DF9-34581AB760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93B"/>
                </a:solidFill>
                <a:latin typeface="Arial"/>
              </a:rPr>
              <a:t>Rating Count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 Count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1F3-454B-8EC4-F6ECA79BB778}"/>
              </c:ext>
            </c:extLst>
          </c:dPt>
          <c:dPt>
            <c:idx val="1"/>
            <c:invertIfNegative val="0"/>
            <c:bubble3D val="0"/>
            <c:spPr>
              <a:solidFill>
                <a:srgbClr val="FFB8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1F3-454B-8EC4-F6ECA79BB778}"/>
              </c:ext>
            </c:extLst>
          </c:dPt>
          <c:dPt>
            <c:idx val="2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1F3-454B-8EC4-F6ECA79BB778}"/>
              </c:ext>
            </c:extLst>
          </c:dPt>
          <c:dPt>
            <c:idx val="3"/>
            <c:invertIfNegative val="0"/>
            <c:bubble3D val="0"/>
            <c:spPr>
              <a:solidFill>
                <a:srgbClr val="14A8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1F3-454B-8EC4-F6ECA79BB77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Computers&amp;Acc</c:v>
                </c:pt>
                <c:pt idx="2">
                  <c:v>Electronics (W)</c:v>
                </c:pt>
                <c:pt idx="3">
                  <c:v>Electronics (H)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4800000</c:v>
                </c:pt>
                <c:pt idx="1">
                  <c:v>3200000</c:v>
                </c:pt>
                <c:pt idx="2">
                  <c:v>2100000</c:v>
                </c:pt>
                <c:pt idx="3">
                  <c:v>1500000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1F3-454B-8EC4-F6ECA79BB7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%</c:v>
                </c:pt>
              </c:strCache>
            </c:strRef>
          </c:tx>
          <c:spPr>
            <a:solidFill>
              <a:srgbClr val="0F2557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Elec.</c:v>
                </c:pt>
                <c:pt idx="1">
                  <c:v>Comp.</c:v>
                </c:pt>
                <c:pt idx="2">
                  <c:v>Home&amp;K</c:v>
                </c:pt>
                <c:pt idx="3">
                  <c:v>Music</c:v>
                </c:pt>
                <c:pt idx="4">
                  <c:v>Office</c:v>
                </c:pt>
                <c:pt idx="5">
                  <c:v>Camera</c:v>
                </c:pt>
                <c:pt idx="6">
                  <c:v>Toys</c:v>
                </c:pt>
                <c:pt idx="7">
                  <c:v>Auto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</c:v>
                </c:pt>
                <c:pt idx="1">
                  <c:v>46</c:v>
                </c:pt>
                <c:pt idx="2">
                  <c:v>41</c:v>
                </c:pt>
                <c:pt idx="3">
                  <c:v>38</c:v>
                </c:pt>
                <c:pt idx="4">
                  <c:v>35</c:v>
                </c:pt>
                <c:pt idx="5">
                  <c:v>43</c:v>
                </c:pt>
                <c:pt idx="6">
                  <c:v>29</c:v>
                </c:pt>
                <c:pt idx="7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33-46A5-801F-1CD49004DB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Sum of Rating</c:v>
                </c:pt>
              </c:strCache>
            </c:strRef>
          </c:tx>
          <c:spPr>
            <a:ln w="38100" cap="flat">
              <a:solidFill>
                <a:srgbClr val="FF99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9900"/>
              </a:solidFill>
              <a:ln w="9525" cap="flat">
                <a:solidFill>
                  <a:srgbClr val="FF990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Elec.</c:v>
                </c:pt>
                <c:pt idx="1">
                  <c:v>Comp.</c:v>
                </c:pt>
                <c:pt idx="2">
                  <c:v>Home&amp;K</c:v>
                </c:pt>
                <c:pt idx="3">
                  <c:v>Music</c:v>
                </c:pt>
                <c:pt idx="4">
                  <c:v>Office</c:v>
                </c:pt>
                <c:pt idx="5">
                  <c:v>Camera</c:v>
                </c:pt>
                <c:pt idx="6">
                  <c:v>Toys</c:v>
                </c:pt>
                <c:pt idx="7">
                  <c:v>Auto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950</c:v>
                </c:pt>
                <c:pt idx="1">
                  <c:v>820</c:v>
                </c:pt>
                <c:pt idx="2">
                  <c:v>680</c:v>
                </c:pt>
                <c:pt idx="3">
                  <c:v>420</c:v>
                </c:pt>
                <c:pt idx="4">
                  <c:v>310</c:v>
                </c:pt>
                <c:pt idx="5">
                  <c:v>380</c:v>
                </c:pt>
                <c:pt idx="6">
                  <c:v>270</c:v>
                </c:pt>
                <c:pt idx="7">
                  <c:v>240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133-46A5-801F-1CD49004DB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Product Count by Price Bucket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Products</c:v>
                </c:pt>
              </c:strCache>
            </c:strRef>
          </c:tx>
          <c:spPr>
            <a:solidFill>
              <a:srgbClr val="0F255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343-41D3-946F-CA79AAC2FF8B}"/>
              </c:ext>
            </c:extLst>
          </c:dPt>
          <c:dPt>
            <c:idx val="1"/>
            <c:invertIfNegative val="0"/>
            <c:bubble3D val="0"/>
            <c:spPr>
              <a:solidFill>
                <a:srgbClr val="1A3A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43-41D3-946F-CA79AAC2FF8B}"/>
              </c:ext>
            </c:extLst>
          </c:dPt>
          <c:dPt>
            <c:idx val="2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343-41D3-946F-CA79AAC2FF8B}"/>
              </c:ext>
            </c:extLst>
          </c:dPt>
          <c:dPt>
            <c:idx val="3"/>
            <c:invertIfNegative val="0"/>
            <c:bubble3D val="0"/>
            <c:spPr>
              <a:solidFill>
                <a:srgbClr val="14A8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343-41D3-946F-CA79AAC2FF8B}"/>
              </c:ext>
            </c:extLst>
          </c:dPt>
          <c:dPt>
            <c:idx val="4"/>
            <c:invertIfNegative val="0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343-41D3-946F-CA79AAC2FF8B}"/>
              </c:ext>
            </c:extLst>
          </c:dPt>
          <c:dPt>
            <c:idx val="5"/>
            <c:invertIfNegative val="0"/>
            <c:bubble3D val="0"/>
            <c:spPr>
              <a:solidFill>
                <a:srgbClr val="FFB8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343-41D3-946F-CA79AAC2FF8B}"/>
              </c:ext>
            </c:extLst>
          </c:dPt>
          <c:dPt>
            <c:idx val="6"/>
            <c:invertIfNegative val="0"/>
            <c:bubble3D val="0"/>
            <c:spPr>
              <a:solidFill>
                <a:srgbClr val="E8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343-41D3-946F-CA79AAC2FF8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₹0–500</c:v>
                </c:pt>
                <c:pt idx="1">
                  <c:v>₹501–1K</c:v>
                </c:pt>
                <c:pt idx="2">
                  <c:v>₹1K–2K</c:v>
                </c:pt>
                <c:pt idx="3">
                  <c:v>₹2K–5K</c:v>
                </c:pt>
                <c:pt idx="4">
                  <c:v>₹5K–10K</c:v>
                </c:pt>
                <c:pt idx="5">
                  <c:v>₹10K–20K</c:v>
                </c:pt>
                <c:pt idx="6">
                  <c:v>₹20K+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820</c:v>
                </c:pt>
                <c:pt idx="1">
                  <c:v>1350</c:v>
                </c:pt>
                <c:pt idx="2">
                  <c:v>1580</c:v>
                </c:pt>
                <c:pt idx="3">
                  <c:v>1120</c:v>
                </c:pt>
                <c:pt idx="4">
                  <c:v>640</c:v>
                </c:pt>
                <c:pt idx="5">
                  <c:v>360</c:v>
                </c:pt>
                <c:pt idx="6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343-41D3-946F-CA79AAC2FF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25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D42-4A93-9372-FF210520764D}"/>
              </c:ext>
            </c:extLst>
          </c:dPt>
          <c:dPt>
            <c:idx val="1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42-4A93-9372-FF210520764D}"/>
              </c:ext>
            </c:extLst>
          </c:dPt>
          <c:dPt>
            <c:idx val="2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42-4A93-9372-FF210520764D}"/>
              </c:ext>
            </c:extLst>
          </c:dPt>
          <c:dPt>
            <c:idx val="3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D42-4A93-9372-FF210520764D}"/>
              </c:ext>
            </c:extLst>
          </c:dPt>
          <c:dPt>
            <c:idx val="4"/>
            <c:bubble3D val="0"/>
            <c:spPr>
              <a:solidFill>
                <a:srgbClr val="E8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D42-4A93-9372-FF210520764D}"/>
              </c:ext>
            </c:extLst>
          </c:dPt>
          <c:dPt>
            <c:idx val="5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D42-4A93-9372-FF210520764D}"/>
              </c:ext>
            </c:extLst>
          </c:dPt>
          <c:dPt>
            <c:idx val="6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D42-4A93-9372-FF210520764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D42-4A93-9372-FF210520764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D42-4A93-9372-FF210520764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D42-4A93-9372-FF210520764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D42-4A93-9372-FF210520764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D42-4A93-9372-FF210520764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D42-4A93-9372-FF210520764D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D42-4A93-9372-FF210520764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B09C6HX... (13.5%)</c:v>
                </c:pt>
                <c:pt idx="1">
                  <c:v>B07XLCFSSN (8.4%)</c:v>
                </c:pt>
                <c:pt idx="2">
                  <c:v>B083342NKJ (4.4%)</c:v>
                </c:pt>
                <c:pt idx="3">
                  <c:v>B09W5XR9... (4.4%)</c:v>
                </c:pt>
                <c:pt idx="4">
                  <c:v>B01GGKYK... (4.3%)</c:v>
                </c:pt>
                <c:pt idx="5">
                  <c:v>B07Z6SH... (4.3%)</c:v>
                </c:pt>
                <c:pt idx="6">
                  <c:v>Others (60.7%)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13.5</c:v>
                </c:pt>
                <c:pt idx="1">
                  <c:v>8.4</c:v>
                </c:pt>
                <c:pt idx="2">
                  <c:v>4.4000000000000004</c:v>
                </c:pt>
                <c:pt idx="3">
                  <c:v>4.4000000000000004</c:v>
                </c:pt>
                <c:pt idx="4">
                  <c:v>4.3</c:v>
                </c:pt>
                <c:pt idx="5">
                  <c:v>4.3</c:v>
                </c:pt>
                <c:pt idx="6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D42-4A93-9372-FF21052076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Electronics</c:v>
                </c:pt>
              </c:strCache>
            </c:strRef>
          </c:tx>
          <c:spPr>
            <a:ln w="25400" cap="flat">
              <a:solidFill>
                <a:srgbClr val="0F25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2557"/>
              </a:solidFill>
              <a:ln w="9525" cap="flat">
                <a:solidFill>
                  <a:srgbClr val="0F255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Rating Score</c:v>
                </c:pt>
                <c:pt idx="1">
                  <c:v>Rating Volume</c:v>
                </c:pt>
                <c:pt idx="2">
                  <c:v>Discount %</c:v>
                </c:pt>
                <c:pt idx="3">
                  <c:v>Price Range</c:v>
                </c:pt>
                <c:pt idx="4">
                  <c:v>Product Count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88</c:v>
                </c:pt>
                <c:pt idx="2">
                  <c:v>92</c:v>
                </c:pt>
                <c:pt idx="3">
                  <c:v>75</c:v>
                </c:pt>
                <c:pt idx="4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16-4A69-B9D0-928E66EB59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Computers&amp;Acc</c:v>
                </c:pt>
              </c:strCache>
            </c:strRef>
          </c:tx>
          <c:spPr>
            <a:ln w="25400" cap="flat">
              <a:solidFill>
                <a:srgbClr val="FF99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9900"/>
              </a:solidFill>
              <a:ln w="9525" cap="flat">
                <a:solidFill>
                  <a:srgbClr val="FF990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Rating Score</c:v>
                </c:pt>
                <c:pt idx="1">
                  <c:v>Rating Volume</c:v>
                </c:pt>
                <c:pt idx="2">
                  <c:v>Discount %</c:v>
                </c:pt>
                <c:pt idx="3">
                  <c:v>Price Range</c:v>
                </c:pt>
                <c:pt idx="4">
                  <c:v>Product Count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78</c:v>
                </c:pt>
                <c:pt idx="1">
                  <c:v>72</c:v>
                </c:pt>
                <c:pt idx="2">
                  <c:v>80</c:v>
                </c:pt>
                <c:pt idx="3">
                  <c:v>88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16-4A69-B9D0-928E66EB59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Top Products by Rating Score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 (out of 5)</c:v>
                </c:pt>
              </c:strCache>
            </c:strRef>
          </c:tx>
          <c:spPr>
            <a:solidFill>
              <a:srgbClr val="0F255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00D-4DD7-B06E-C54B188C860F}"/>
              </c:ext>
            </c:extLst>
          </c:dPt>
          <c:dPt>
            <c:idx val="1"/>
            <c:invertIfNegative val="0"/>
            <c:bubble3D val="0"/>
            <c:spPr>
              <a:solidFill>
                <a:srgbClr val="1A3A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0D-4DD7-B06E-C54B188C860F}"/>
              </c:ext>
            </c:extLst>
          </c:dPt>
          <c:dPt>
            <c:idx val="2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00D-4DD7-B06E-C54B188C860F}"/>
              </c:ext>
            </c:extLst>
          </c:dPt>
          <c:dPt>
            <c:idx val="3"/>
            <c:invertIfNegative val="0"/>
            <c:bubble3D val="0"/>
            <c:spPr>
              <a:solidFill>
                <a:srgbClr val="14A8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00D-4DD7-B06E-C54B188C860F}"/>
              </c:ext>
            </c:extLst>
          </c:dPt>
          <c:dPt>
            <c:idx val="4"/>
            <c:invertIfNegative val="0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00D-4DD7-B06E-C54B188C860F}"/>
              </c:ext>
            </c:extLst>
          </c:dPt>
          <c:dPt>
            <c:idx val="5"/>
            <c:invertIfNegative val="0"/>
            <c:bubble3D val="0"/>
            <c:spPr>
              <a:solidFill>
                <a:srgbClr val="FFB8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00D-4DD7-B06E-C54B188C860F}"/>
              </c:ext>
            </c:extLst>
          </c:dPt>
          <c:dPt>
            <c:idx val="6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00D-4DD7-B06E-C54B188C860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AmazonBasics HDMI</c:v>
                </c:pt>
                <c:pt idx="1">
                  <c:v>Fire TV Stick</c:v>
                </c:pt>
                <c:pt idx="2">
                  <c:v>Echo Dot (4th Gen)</c:v>
                </c:pt>
                <c:pt idx="3">
                  <c:v>Kindle Paperwhite</c:v>
                </c:pt>
                <c:pt idx="4">
                  <c:v>TP-Link Router</c:v>
                </c:pt>
                <c:pt idx="5">
                  <c:v>Logitech MX Keys</c:v>
                </c:pt>
                <c:pt idx="6">
                  <c:v>Samsung T5 SSD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4.5999999999999996</c:v>
                </c:pt>
                <c:pt idx="1">
                  <c:v>4.5</c:v>
                </c:pt>
                <c:pt idx="2">
                  <c:v>4.5</c:v>
                </c:pt>
                <c:pt idx="3">
                  <c:v>4.4000000000000004</c:v>
                </c:pt>
                <c:pt idx="4">
                  <c:v>4.3</c:v>
                </c:pt>
                <c:pt idx="5">
                  <c:v>4.3</c:v>
                </c:pt>
                <c:pt idx="6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00D-4DD7-B06E-C54B188C86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4"/>
        </c:scaling>
        <c:delete val="0"/>
        <c:axPos val="b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93B"/>
                </a:solidFill>
                <a:latin typeface="Arial"/>
              </a:rPr>
              <a:t>Rating Score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61B-4A51-860F-56126BF1B387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1B-4A51-860F-56126BF1B387}"/>
              </c:ext>
            </c:extLst>
          </c:dPt>
          <c:dPt>
            <c:idx val="2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1B-4A51-860F-56126BF1B387}"/>
              </c:ext>
            </c:extLst>
          </c:dPt>
          <c:dPt>
            <c:idx val="3"/>
            <c:bubble3D val="0"/>
            <c:spPr>
              <a:solidFill>
                <a:srgbClr val="E8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1B-4A51-860F-56126BF1B38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1B-4A51-860F-56126BF1B38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1B-4A51-860F-56126BF1B38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61B-4A51-860F-56126BF1B38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61B-4A51-860F-56126BF1B38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4.5–5.0 ⭐ (Excellent)</c:v>
                </c:pt>
                <c:pt idx="1">
                  <c:v>4.0–4.4 ⭐ (Good)</c:v>
                </c:pt>
                <c:pt idx="2">
                  <c:v>3.5–3.9 ⭐ (Average)</c:v>
                </c:pt>
                <c:pt idx="3">
                  <c:v>Below 3.5 ⭐ (Poor)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48</c:v>
                </c:pt>
                <c:pt idx="2">
                  <c:v>18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61B-4A51-860F-56126BF1B3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Rating &amp; Discount % Trend Across Price Bands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ln w="38100" cap="flat">
              <a:solidFill>
                <a:srgbClr val="0F25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2557"/>
              </a:solidFill>
              <a:ln w="9525" cap="flat">
                <a:solidFill>
                  <a:srgbClr val="0F2557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₹0–500</c:v>
                </c:pt>
                <c:pt idx="1">
                  <c:v>₹501–1K</c:v>
                </c:pt>
                <c:pt idx="2">
                  <c:v>₹1K–2K</c:v>
                </c:pt>
                <c:pt idx="3">
                  <c:v>₹2K–5K</c:v>
                </c:pt>
                <c:pt idx="4">
                  <c:v>₹5K–10K</c:v>
                </c:pt>
                <c:pt idx="5">
                  <c:v>₹10K–20K</c:v>
                </c:pt>
                <c:pt idx="6">
                  <c:v>₹20K+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3.9</c:v>
                </c:pt>
                <c:pt idx="1">
                  <c:v>4.0999999999999996</c:v>
                </c:pt>
                <c:pt idx="2">
                  <c:v>4.3</c:v>
                </c:pt>
                <c:pt idx="3">
                  <c:v>4.4000000000000004</c:v>
                </c:pt>
                <c:pt idx="4">
                  <c:v>4.3</c:v>
                </c:pt>
                <c:pt idx="5">
                  <c:v>4.2</c:v>
                </c:pt>
                <c:pt idx="6">
                  <c:v>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E56-4738-8100-C0F19BD3F2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Discount %</c:v>
                </c:pt>
              </c:strCache>
            </c:strRef>
          </c:tx>
          <c:spPr>
            <a:ln w="38100" cap="flat">
              <a:solidFill>
                <a:srgbClr val="FF99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9900"/>
              </a:solidFill>
              <a:ln w="9525" cap="flat">
                <a:solidFill>
                  <a:srgbClr val="FF990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₹0–500</c:v>
                </c:pt>
                <c:pt idx="1">
                  <c:v>₹501–1K</c:v>
                </c:pt>
                <c:pt idx="2">
                  <c:v>₹1K–2K</c:v>
                </c:pt>
                <c:pt idx="3">
                  <c:v>₹2K–5K</c:v>
                </c:pt>
                <c:pt idx="4">
                  <c:v>₹5K–10K</c:v>
                </c:pt>
                <c:pt idx="5">
                  <c:v>₹10K–20K</c:v>
                </c:pt>
                <c:pt idx="6">
                  <c:v>₹20K+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</c:v>
                </c:pt>
                <c:pt idx="1">
                  <c:v>44</c:v>
                </c:pt>
                <c:pt idx="2">
                  <c:v>51</c:v>
                </c:pt>
                <c:pt idx="3">
                  <c:v>48</c:v>
                </c:pt>
                <c:pt idx="4">
                  <c:v>42</c:v>
                </c:pt>
                <c:pt idx="5">
                  <c:v>35</c:v>
                </c:pt>
                <c:pt idx="6">
                  <c:v>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E56-4738-8100-C0F19BD3F2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56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6504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4257298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BA23-5FDD-5D7E-F6FC-E4A6A7F5F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DBF0E-B651-D205-69BC-E38929484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EAFE9-FEB4-90FA-7604-E71268E9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57799B1-BD81-4C27-AC39-14752E0AA9C5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42C0C-D784-7894-6E7A-A3163E7B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E244B-37C0-9DC6-22CD-EB660918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46D0F184-99CC-4BD8-B5C7-8D3F468855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13806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8B4DC1-1FB6-97A3-9F51-B9358500E0A8}"/>
              </a:ext>
            </a:extLst>
          </p:cNvPr>
          <p:cNvSpPr/>
          <p:nvPr/>
        </p:nvSpPr>
        <p:spPr>
          <a:xfrm>
            <a:off x="0" y="454356"/>
            <a:ext cx="9144000" cy="45719"/>
          </a:xfrm>
          <a:prstGeom prst="rect">
            <a:avLst/>
          </a:prstGeom>
          <a:solidFill>
            <a:srgbClr val="EF6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B0C45-392E-206A-6503-A52CA087AB64}"/>
              </a:ext>
            </a:extLst>
          </p:cNvPr>
          <p:cNvSpPr/>
          <p:nvPr/>
        </p:nvSpPr>
        <p:spPr>
          <a:xfrm>
            <a:off x="0" y="2445"/>
            <a:ext cx="9144000" cy="467289"/>
          </a:xfrm>
          <a:prstGeom prst="rect">
            <a:avLst/>
          </a:prstGeom>
          <a:solidFill>
            <a:srgbClr val="E8EC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7638" y="48027"/>
            <a:ext cx="1125129" cy="3761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1E902BD-DE18-50F7-2A75-FEB6FA54A56F}"/>
              </a:ext>
            </a:extLst>
          </p:cNvPr>
          <p:cNvSpPr/>
          <p:nvPr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774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hart" Target="../charts/char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 descr="A group of people looking at a computer">
            <a:extLst>
              <a:ext uri="{FF2B5EF4-FFF2-40B4-BE49-F238E27FC236}">
                <a16:creationId xmlns:a16="http://schemas.microsoft.com/office/drawing/2014/main" id="{DCB12376-330C-5AEF-241A-970C9C0B7D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443" r="30604" b="14243"/>
          <a:stretch/>
        </p:blipFill>
        <p:spPr>
          <a:xfrm>
            <a:off x="-8839" y="3830248"/>
            <a:ext cx="3569383" cy="1325163"/>
          </a:xfrm>
          <a:prstGeom prst="rect">
            <a:avLst/>
          </a:prstGeom>
        </p:spPr>
      </p:pic>
      <p:pic>
        <p:nvPicPr>
          <p:cNvPr id="20" name="Picture 19" descr="A group of people sitting around a table">
            <a:extLst>
              <a:ext uri="{FF2B5EF4-FFF2-40B4-BE49-F238E27FC236}">
                <a16:creationId xmlns:a16="http://schemas.microsoft.com/office/drawing/2014/main" id="{D0E22E25-F67F-8665-C1B4-3899AEA475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7854" b="25110"/>
          <a:stretch/>
        </p:blipFill>
        <p:spPr>
          <a:xfrm>
            <a:off x="3591976" y="-21727"/>
            <a:ext cx="5563599" cy="388506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267" y="-21727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2673" y="515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200" dirty="0"/>
          </a:p>
        </p:txBody>
      </p:sp>
      <p:grpSp>
        <p:nvGrpSpPr>
          <p:cNvPr id="21" name="Group 6">
            <a:extLst>
              <a:ext uri="{FF2B5EF4-FFF2-40B4-BE49-F238E27FC236}">
                <a16:creationId xmlns:a16="http://schemas.microsoft.com/office/drawing/2014/main" id="{19BFC6F5-03E0-8523-92D9-1135F4046362}"/>
              </a:ext>
            </a:extLst>
          </p:cNvPr>
          <p:cNvGrpSpPr/>
          <p:nvPr/>
        </p:nvGrpSpPr>
        <p:grpSpPr>
          <a:xfrm>
            <a:off x="519530" y="-317130"/>
            <a:ext cx="5347819" cy="4181717"/>
            <a:chOff x="-44571" y="-47625"/>
            <a:chExt cx="1548591" cy="1151670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68F40D50-586A-135C-A2C7-44C713C60AC2}"/>
                </a:ext>
              </a:extLst>
            </p:cNvPr>
            <p:cNvSpPr/>
            <p:nvPr/>
          </p:nvSpPr>
          <p:spPr>
            <a:xfrm>
              <a:off x="-44571" y="390080"/>
              <a:ext cx="1548591" cy="713965"/>
            </a:xfrm>
            <a:custGeom>
              <a:avLst/>
              <a:gdLst/>
              <a:ahLst/>
              <a:cxnLst/>
              <a:rect l="l" t="t" r="r" b="b"/>
              <a:pathLst>
                <a:path w="1223699" h="713965">
                  <a:moveTo>
                    <a:pt x="0" y="0"/>
                  </a:moveTo>
                  <a:lnTo>
                    <a:pt x="1223699" y="0"/>
                  </a:lnTo>
                  <a:lnTo>
                    <a:pt x="1223699" y="713965"/>
                  </a:lnTo>
                  <a:lnTo>
                    <a:pt x="0" y="7139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6C6C9806-107C-2D14-26F3-0C1F01882385}"/>
                </a:ext>
              </a:extLst>
            </p:cNvPr>
            <p:cNvSpPr txBox="1"/>
            <p:nvPr/>
          </p:nvSpPr>
          <p:spPr>
            <a:xfrm>
              <a:off x="0" y="-47625"/>
              <a:ext cx="1223699" cy="761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4" name="Group 9">
            <a:extLst>
              <a:ext uri="{FF2B5EF4-FFF2-40B4-BE49-F238E27FC236}">
                <a16:creationId xmlns:a16="http://schemas.microsoft.com/office/drawing/2014/main" id="{01BE4A84-3EFF-A2F0-A8F1-B14BBF08E7EB}"/>
              </a:ext>
            </a:extLst>
          </p:cNvPr>
          <p:cNvGrpSpPr/>
          <p:nvPr/>
        </p:nvGrpSpPr>
        <p:grpSpPr>
          <a:xfrm>
            <a:off x="781121" y="856907"/>
            <a:ext cx="4820890" cy="773873"/>
            <a:chOff x="-117556" y="-72266"/>
            <a:chExt cx="1991689" cy="319716"/>
          </a:xfrm>
        </p:grpSpPr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9E318F95-3231-32D6-FCA2-C147484B027A}"/>
                </a:ext>
              </a:extLst>
            </p:cNvPr>
            <p:cNvSpPr/>
            <p:nvPr/>
          </p:nvSpPr>
          <p:spPr>
            <a:xfrm>
              <a:off x="-117556" y="-72266"/>
              <a:ext cx="1991689" cy="319716"/>
            </a:xfrm>
            <a:custGeom>
              <a:avLst/>
              <a:gdLst/>
              <a:ahLst/>
              <a:cxnLst/>
              <a:rect l="l" t="t" r="r" b="b"/>
              <a:pathLst>
                <a:path w="736235" h="178921">
                  <a:moveTo>
                    <a:pt x="0" y="0"/>
                  </a:moveTo>
                  <a:lnTo>
                    <a:pt x="736235" y="0"/>
                  </a:lnTo>
                  <a:lnTo>
                    <a:pt x="736235" y="178921"/>
                  </a:lnTo>
                  <a:lnTo>
                    <a:pt x="0" y="178921"/>
                  </a:lnTo>
                  <a:close/>
                </a:path>
              </a:pathLst>
            </a:custGeom>
            <a:solidFill>
              <a:srgbClr val="E8EC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id="{1B1B4E11-AD46-FE91-C734-990A8E9F24A5}"/>
                </a:ext>
              </a:extLst>
            </p:cNvPr>
            <p:cNvSpPr txBox="1"/>
            <p:nvPr/>
          </p:nvSpPr>
          <p:spPr>
            <a:xfrm>
              <a:off x="0" y="-66675"/>
              <a:ext cx="736235" cy="245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3DFC1F5-2126-E3E1-FDDF-98C5D79E315E}"/>
              </a:ext>
            </a:extLst>
          </p:cNvPr>
          <p:cNvGrpSpPr/>
          <p:nvPr/>
        </p:nvGrpSpPr>
        <p:grpSpPr>
          <a:xfrm>
            <a:off x="1327847" y="949930"/>
            <a:ext cx="3608846" cy="660460"/>
            <a:chOff x="1516338" y="1159739"/>
            <a:chExt cx="3608846" cy="66046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E266C9D-514F-A950-3C52-EF344EBC8E44}"/>
                </a:ext>
              </a:extLst>
            </p:cNvPr>
            <p:cNvCxnSpPr>
              <a:cxnSpLocks/>
            </p:cNvCxnSpPr>
            <p:nvPr/>
          </p:nvCxnSpPr>
          <p:spPr>
            <a:xfrm>
              <a:off x="3969406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9" name="Google Shape;110;p4" descr="A close up of a sign&#10;&#10;Description automatically generated">
              <a:extLst>
                <a:ext uri="{FF2B5EF4-FFF2-40B4-BE49-F238E27FC236}">
                  <a16:creationId xmlns:a16="http://schemas.microsoft.com/office/drawing/2014/main" id="{DBB123FC-971F-C1EE-C283-F0AB3451FD8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237873" y="1341787"/>
              <a:ext cx="887311" cy="296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3EF19028-B020-B5D2-5742-B9CED4F941AD}"/>
                </a:ext>
              </a:extLst>
            </p:cNvPr>
            <p:cNvPicPr/>
            <p:nvPr/>
          </p:nvPicPr>
          <p:blipFill>
            <a:blip r:embed="rId7"/>
            <a:stretch/>
          </p:blipFill>
          <p:spPr>
            <a:xfrm>
              <a:off x="1516338" y="1351451"/>
              <a:ext cx="1069048" cy="277034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AC4F0DF-1998-10B1-9307-5EB6C4A5F12F}"/>
                </a:ext>
              </a:extLst>
            </p:cNvPr>
            <p:cNvCxnSpPr>
              <a:cxnSpLocks/>
            </p:cNvCxnSpPr>
            <p:nvPr/>
          </p:nvCxnSpPr>
          <p:spPr>
            <a:xfrm>
              <a:off x="2615873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2" name="Picture 31" descr="A logo with tools in a circle&#10;&#10;Description automatically generated">
              <a:extLst>
                <a:ext uri="{FF2B5EF4-FFF2-40B4-BE49-F238E27FC236}">
                  <a16:creationId xmlns:a16="http://schemas.microsoft.com/office/drawing/2014/main" id="{00B3E9E3-37C4-1188-3820-164A6E4C6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93928" y="1159739"/>
              <a:ext cx="658966" cy="660460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FAB046F-36FD-4858-A3D0-50506445F667}"/>
              </a:ext>
            </a:extLst>
          </p:cNvPr>
          <p:cNvSpPr txBox="1"/>
          <p:nvPr/>
        </p:nvSpPr>
        <p:spPr>
          <a:xfrm>
            <a:off x="762576" y="1867681"/>
            <a:ext cx="31799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Amazon Sales Analysis Dashboard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7" name="Google Shape;70;p13">
            <a:extLst>
              <a:ext uri="{FF2B5EF4-FFF2-40B4-BE49-F238E27FC236}">
                <a16:creationId xmlns:a16="http://schemas.microsoft.com/office/drawing/2014/main" id="{15E04D00-E3F0-7BC6-824A-0DD3D6006228}"/>
              </a:ext>
            </a:extLst>
          </p:cNvPr>
          <p:cNvSpPr txBox="1"/>
          <p:nvPr/>
        </p:nvSpPr>
        <p:spPr>
          <a:xfrm>
            <a:off x="3714636" y="3915928"/>
            <a:ext cx="14569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</a:p>
        </p:txBody>
      </p:sp>
      <p:sp>
        <p:nvSpPr>
          <p:cNvPr id="38" name="Google Shape;70;p13">
            <a:extLst>
              <a:ext uri="{FF2B5EF4-FFF2-40B4-BE49-F238E27FC236}">
                <a16:creationId xmlns:a16="http://schemas.microsoft.com/office/drawing/2014/main" id="{95D91319-8D53-E6B0-95BC-757CED2E72E6}"/>
              </a:ext>
            </a:extLst>
          </p:cNvPr>
          <p:cNvSpPr txBox="1"/>
          <p:nvPr/>
        </p:nvSpPr>
        <p:spPr>
          <a:xfrm>
            <a:off x="6063961" y="3882241"/>
            <a:ext cx="1363219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Guided by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4A310DF-7230-4AF0-E929-3173FBC692E6}"/>
              </a:ext>
            </a:extLst>
          </p:cNvPr>
          <p:cNvCxnSpPr>
            <a:cxnSpLocks/>
          </p:cNvCxnSpPr>
          <p:nvPr/>
        </p:nvCxnSpPr>
        <p:spPr>
          <a:xfrm>
            <a:off x="3681523" y="4152496"/>
            <a:ext cx="1415445" cy="13408"/>
          </a:xfrm>
          <a:prstGeom prst="line">
            <a:avLst/>
          </a:prstGeom>
          <a:ln w="3175">
            <a:solidFill>
              <a:srgbClr val="E5EEFF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2BDCCD3-C85B-4849-C437-741F68C1A77D}"/>
              </a:ext>
            </a:extLst>
          </p:cNvPr>
          <p:cNvCxnSpPr>
            <a:cxnSpLocks/>
          </p:cNvCxnSpPr>
          <p:nvPr/>
        </p:nvCxnSpPr>
        <p:spPr>
          <a:xfrm>
            <a:off x="5867349" y="4159200"/>
            <a:ext cx="1363218" cy="0"/>
          </a:xfrm>
          <a:prstGeom prst="line">
            <a:avLst/>
          </a:prstGeom>
          <a:ln w="3175">
            <a:solidFill>
              <a:srgbClr val="E5EEFF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6EB3D52-26B1-2C1D-49D4-E29BBCCCE854}"/>
              </a:ext>
            </a:extLst>
          </p:cNvPr>
          <p:cNvSpPr txBox="1"/>
          <p:nvPr/>
        </p:nvSpPr>
        <p:spPr>
          <a:xfrm>
            <a:off x="3591976" y="4178359"/>
            <a:ext cx="1991482" cy="8463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Sahil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Harikishan V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Srujana S </a:t>
            </a:r>
            <a:r>
              <a:rPr lang="en-US" sz="1100" dirty="0" err="1">
                <a:solidFill>
                  <a:schemeClr val="bg1"/>
                </a:solidFill>
              </a:rPr>
              <a:t>Guddadakeri</a:t>
            </a:r>
            <a:endParaRPr lang="en-US" sz="1100" dirty="0">
              <a:solidFill>
                <a:schemeClr val="bg1"/>
              </a:solidFill>
            </a:endParaRP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Nandakishore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8C28DA-5847-91D7-7D70-231B6659D30E}"/>
              </a:ext>
            </a:extLst>
          </p:cNvPr>
          <p:cNvSpPr txBox="1"/>
          <p:nvPr/>
        </p:nvSpPr>
        <p:spPr>
          <a:xfrm>
            <a:off x="5729206" y="4200974"/>
            <a:ext cx="1099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1. Upendra</a:t>
            </a:r>
            <a:endParaRPr lang="en-IN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0F255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869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12527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Overview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5453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Top-line KPIs — products, ratings, discounts, and counts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18688" y="7772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777240"/>
            <a:ext cx="27432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8869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28416" y="12527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Price by Category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28416" y="15453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generate the most discounted revenue?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63056" y="7772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777240"/>
            <a:ext cx="27432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8869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72784" y="12527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72784" y="15453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scores and volumes across all categories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16712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167128"/>
            <a:ext cx="27432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768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" y="26426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 Ratings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29352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discount depth correlates with customer satisfaction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18688" y="216712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2167128"/>
            <a:ext cx="27432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22768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28416" y="26426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Distribution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28416" y="29352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₹39 to ₹77,990 — understanding the price spread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63056" y="216712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2167128"/>
            <a:ext cx="27432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22768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72784" y="26426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Spotlight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72784" y="29352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products that own nearly 40% of all ratings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557016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557016"/>
            <a:ext cx="27432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6667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84048" y="4032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Deep-Dive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048" y="43251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vs Computers &amp; Accessories head-to-head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18688" y="3557016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18688" y="3557016"/>
            <a:ext cx="27432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28416" y="36667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328416" y="4032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Observations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28416" y="43251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 outliers, and what the data tells us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63056" y="3557016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63056" y="3557016"/>
            <a:ext cx="27432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72784" y="36667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272784" y="4032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Recommendations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72784" y="43251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 for sales and marketing teams</a:t>
            </a:r>
            <a:endParaRPr lang="en-US" sz="85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190C21F-4765-B10F-6EC6-DF9C8D5DC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367" y="61068"/>
            <a:ext cx="1314633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116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8755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B002PD61Y4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 ID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50592" y="822960"/>
            <a:ext cx="2011680" cy="210312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822960"/>
            <a:ext cx="201168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98755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42032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Ratings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542032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6,000+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542032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Ratings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626864" y="822960"/>
            <a:ext cx="2011680" cy="210312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26864" y="822960"/>
            <a:ext cx="2011680" cy="64008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987552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18304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Avg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718304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698.68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4718304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 %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803136" y="822960"/>
            <a:ext cx="2011680" cy="21031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03136" y="822960"/>
            <a:ext cx="20116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4" y="987552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94576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Count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894576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426,973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894576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Rating Count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274320" y="3154680"/>
            <a:ext cx="8595360" cy="91440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0" name="Shape 24"/>
          <p:cNvSpPr/>
          <p:nvPr/>
        </p:nvSpPr>
        <p:spPr>
          <a:xfrm>
            <a:off x="274320" y="3154680"/>
            <a:ext cx="64008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57200" y="3218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Problem Statement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3538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Businesses often face difficulty in tracking and analyzing their sales performance due to scattered data and lack of visualization tools. Without proper insights, decision-making becomes inefficient, affecting revenue growth and operational strategy.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0B7464-6B5C-87ED-0BEB-A301CEC1BB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9367" y="61068"/>
            <a:ext cx="1314633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PRICE BY CATEGORY</a:t>
            </a:r>
            <a:endParaRPr lang="en-US" sz="1700" dirty="0">
              <a:solidFill>
                <a:schemeClr val="tx1"/>
              </a:solidFill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365760" y="777240"/>
          <a:ext cx="53035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822960"/>
            <a:ext cx="2926080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822960"/>
            <a:ext cx="64008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20700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(Home Audio) leads with ₹2.1M+ in total discounted value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0" y="2057400"/>
            <a:ext cx="2926080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057400"/>
            <a:ext cx="64008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Runner-Up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0760" y="244144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Accessories closely follow at ₹1.85M, narrowing the gap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3291840"/>
            <a:ext cx="2926080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291840"/>
            <a:ext cx="64008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Zone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80760" y="36758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 categories show room to grow — combined ₹1.73M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64AE49D-52D5-ABDD-564D-EB4C94108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367" y="61068"/>
            <a:ext cx="1314633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ANALYSIS — BY CATEGORY &amp; PRODUCT</a:t>
            </a:r>
            <a:endParaRPr lang="en-US" sz="1700" dirty="0">
              <a:solidFill>
                <a:schemeClr val="tx1"/>
              </a:solidFill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7724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54880" y="77724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251960"/>
            <a:ext cx="8595360" cy="73152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02920" y="4325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Electronics dominates both rating scores and rating volumes, reflecting highest consumer engagement. Computers &amp; Accessories rank second across both metrics.</a:t>
            </a:r>
            <a:endParaRPr lang="en-US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ECD6C8-1A88-3FEF-5388-8F4236323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367" y="61068"/>
            <a:ext cx="1314633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PERCENTAGE vs RATINGS BY CATEGORY</a:t>
            </a:r>
            <a:endParaRPr lang="en-US" sz="1700" dirty="0">
              <a:solidFill>
                <a:schemeClr val="tx1"/>
              </a:solidFill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365760" y="777240"/>
          <a:ext cx="57607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868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9360" y="1371600"/>
            <a:ext cx="411480" cy="41148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40817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12280" y="1389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offers highest discounts (~52%) and earns the highest ratings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09360" y="2240280"/>
            <a:ext cx="411480" cy="41148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227685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12280" y="2258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Accessories follow closely with 46% avg discount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3108960"/>
            <a:ext cx="411480" cy="41148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314553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12280" y="3127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Instruments show low discounts but still solid ratings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309360" y="3977640"/>
            <a:ext cx="411480" cy="41148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401421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12280" y="39959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spans ₹39 to ₹77,990 across all categories</a:t>
            </a:r>
            <a:endParaRPr lang="en-US" sz="9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D10874D-729B-0BCD-D405-50687F5D6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367" y="61068"/>
            <a:ext cx="1314633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DISTRIBUTION</a:t>
            </a:r>
            <a:endParaRPr lang="en-US" sz="1700" dirty="0">
              <a:solidFill>
                <a:schemeClr val="tx1"/>
              </a:solidFill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77240"/>
          <a:ext cx="5394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804672"/>
            <a:ext cx="292608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804672"/>
            <a:ext cx="54864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8595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08076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Price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0" y="1737360"/>
            <a:ext cx="292608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737360"/>
            <a:ext cx="54864" cy="804672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1792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₹77,990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080760" y="22128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Price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2670048"/>
            <a:ext cx="292608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2670048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27249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₹1K–2K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080760" y="31455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43600" y="3602736"/>
            <a:ext cx="2926080" cy="80467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0" y="3602736"/>
            <a:ext cx="54864" cy="8046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657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080760" y="4078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Range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4590288"/>
            <a:ext cx="8595360" cy="429768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6360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₹1,000–₹2,000 bracket contains the most products (1,580), making mid-range electronics the dominant price segment in this dataset.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84C8703-0FBE-8A51-1029-2A850D5F9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367" y="61068"/>
            <a:ext cx="1314633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RATING SHARE</a:t>
            </a:r>
            <a:endParaRPr lang="en-US" sz="1700" dirty="0">
              <a:solidFill>
                <a:schemeClr val="tx1"/>
              </a:solidFill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77240"/>
          <a:ext cx="42062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Breakdown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4114800" cy="268833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Product 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Rating Share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🥇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B09C6HX...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13.5%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🥈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B07XLCFSSN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8.4%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🥉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B083342NKJ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4.4%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4th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B09W5XR9...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4.4%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5th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B01GGKYK...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4.3%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6th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B07Z6SH...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4.3%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754880" y="4114800"/>
            <a:ext cx="4114800" cy="64008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416966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6 products account for ~39.3% of all ratings. The remaining ~61% is spread across hundreds of other products.</a:t>
            </a:r>
            <a:endParaRPr lang="en-US" sz="9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02B4E4-C807-FD58-DE55-842D860D9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367" y="61068"/>
            <a:ext cx="1314633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19" y="73152"/>
            <a:ext cx="6904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DEEP-DIVE — ELECTRONICS vs COMPUTERS &amp; ACCESSORIES</a:t>
            </a:r>
            <a:endParaRPr lang="en-US" sz="1700" dirty="0">
              <a:solidFill>
                <a:schemeClr val="tx1"/>
              </a:solidFill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49808"/>
          <a:ext cx="4114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8046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4251960" cy="23042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Electronics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Computers &amp; Acc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Avg Rating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</a:rPr>
                        <a:t>4.2 ⭐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4.1 ⭐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Rating Count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</a:rPr>
                        <a:t>4.8M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3.2M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Avg Discount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</a:rPr>
                        <a:t>52%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46%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Price Range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₹199–₹49,999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₹99–₹77,990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Top Sub-cat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Home Audio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Accessories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663440" y="4087368"/>
            <a:ext cx="4251960" cy="804672"/>
          </a:xfrm>
          <a:prstGeom prst="rect">
            <a:avLst/>
          </a:prstGeom>
          <a:solidFill>
            <a:srgbClr val="0F2557"/>
          </a:solidFill>
          <a:ln w="127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80060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Verdict</a:t>
            </a:r>
            <a:endParaRPr lang="en-US" sz="1000" dirty="0"/>
          </a:p>
        </p:txBody>
      </p:sp>
      <p:sp>
        <p:nvSpPr>
          <p:cNvPr id="7" name="Text 6"/>
          <p:cNvSpPr/>
          <p:nvPr/>
        </p:nvSpPr>
        <p:spPr>
          <a:xfrm>
            <a:off x="4800600" y="44074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on all engagement metrics. Computers &amp; Accessories edge ahead on price ceiling — suggesting a premium niche opportunity.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523EED-3C5A-0C79-B658-60F85B3E9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367" y="61068"/>
            <a:ext cx="1314633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ANALYSIS — RATING PERFORMANCE</a:t>
            </a:r>
            <a:endParaRPr lang="en-US" sz="1700" dirty="0">
              <a:solidFill>
                <a:schemeClr val="tx1"/>
              </a:solidFill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49808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989320" y="749808"/>
          <a:ext cx="29260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989320" y="4087368"/>
            <a:ext cx="2926080" cy="29260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080760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76% of all products rate 4.0 or above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989320" y="4425696"/>
            <a:ext cx="2926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80760" y="4453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AmazonBasics leads with a 4.6 avg rating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989320" y="4764024"/>
            <a:ext cx="2926080" cy="29260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80760" y="4791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Only 6% of products fall below 3.5 stars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74320" y="4096512"/>
            <a:ext cx="5486400" cy="886968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4096512"/>
            <a:ext cx="54864" cy="8869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20624" y="4151376"/>
            <a:ext cx="5257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rating quality is high overall — 76% rate 4.0+. AmazonBasics, Fire TV, and Echo Dot consistently hit the top tier, suggesting brand equity plays a strong role in customer satisfaction scores.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3EC595-587B-C1BF-340C-668BF027C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367" y="61068"/>
            <a:ext cx="1314633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KEY OBSERVATIONS</a:t>
            </a:r>
            <a:endParaRPr lang="en-US" sz="1700" dirty="0">
              <a:solidFill>
                <a:schemeClr val="tx1"/>
              </a:solidFill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49808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806440" y="804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06440" y="1234440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234440"/>
            <a:ext cx="54864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2893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Ratings peak at ₹2K–₹5K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0" y="160020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Mid-premium products earn the best scores, suggesting quality perception is highest here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5806440" y="2185416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06440" y="2185416"/>
            <a:ext cx="54864" cy="822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Discounts peak at ₹1K–₹2K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0" y="255117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push the hardest discounts in the mid-range bracket to drive volume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806440" y="3136392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06440" y="3136392"/>
            <a:ext cx="54864" cy="82296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31912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Luxury dip (₹20K+)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0" y="3502152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high-priced items show both lower ratings and fewer discounts — a tough sell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5806440" y="4087368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06440" y="4087368"/>
            <a:ext cx="54864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0" y="4142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Discount-Rating correlation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43600" y="445312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discounts in Electronics directly coincide with the category's top ratings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274320" y="4407408"/>
            <a:ext cx="5303520" cy="57607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0624" y="447141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The ₹1K–₹5K sweet spot combines high ratings with deep discounts — the optimal zone for Amazon's promotional campaigns and customer acquisition.</a:t>
            </a:r>
            <a:endParaRPr lang="en-US" sz="9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778B1AD-BADF-EBAC-0CA8-5FB858E6A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367" y="61068"/>
            <a:ext cx="1314633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4023360" cy="1005840"/>
          </a:xfrm>
          <a:prstGeom prst="rect">
            <a:avLst/>
          </a:prstGeom>
          <a:solidFill>
            <a:srgbClr val="1A3A7C"/>
          </a:solidFill>
          <a:ln w="127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Double down on Electronics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ratings AND highest discount value — scale investment here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920240"/>
            <a:ext cx="4023360" cy="1005840"/>
          </a:xfrm>
          <a:prstGeom prst="rect">
            <a:avLst/>
          </a:prstGeom>
          <a:solidFill>
            <a:srgbClr val="1A3A7C"/>
          </a:solidFill>
          <a:ln w="127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65192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Optimize discount strategy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5192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discounts on ₹1K–₹5K price band — the sweet spot for ratings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4023360" cy="1005840"/>
          </a:xfrm>
          <a:prstGeom prst="rect">
            <a:avLst/>
          </a:prstGeom>
          <a:solidFill>
            <a:srgbClr val="1A3A7C"/>
          </a:solidFill>
          <a:ln w="127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Boost Home &amp; Kitchen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rating counts suggest untapped potential — increase visibility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3108960"/>
            <a:ext cx="4023360" cy="1005840"/>
          </a:xfrm>
          <a:prstGeom prst="rect">
            <a:avLst/>
          </a:prstGeom>
          <a:solidFill>
            <a:srgbClr val="1A3A7C"/>
          </a:solidFill>
          <a:ln w="127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65192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Leverage top 6 products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5192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own 39% of ratings — build featured collections around them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Analysis  |  Prepared by Analytics Team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hank you card">
            <a:extLst>
              <a:ext uri="{FF2B5EF4-FFF2-40B4-BE49-F238E27FC236}">
                <a16:creationId xmlns:a16="http://schemas.microsoft.com/office/drawing/2014/main" id="{13EAC383-C2C2-DBCD-6FAC-797AF7A49A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10" t="21904" r="9339"/>
          <a:stretch/>
        </p:blipFill>
        <p:spPr>
          <a:xfrm>
            <a:off x="1748403" y="1340707"/>
            <a:ext cx="5647194" cy="306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6527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B6FF2D62-7D15-43FD-8C72-7864BD6D2431}" vid="{8718E5B3-9A6B-4877-80DA-3C4DA44446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820</Words>
  <Application>Microsoft Office PowerPoint</Application>
  <PresentationFormat>On-screen Show (16:9)</PresentationFormat>
  <Paragraphs>172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Analysis – Extended</dc:title>
  <dc:subject>PptxGenJS Presentation</dc:subject>
  <dc:creator>PptxGenJS</dc:creator>
  <cp:lastModifiedBy>Sahil Khokhar</cp:lastModifiedBy>
  <cp:revision>6</cp:revision>
  <dcterms:created xsi:type="dcterms:W3CDTF">2026-06-01T04:34:34Z</dcterms:created>
  <dcterms:modified xsi:type="dcterms:W3CDTF">2026-06-02T04:32:27Z</dcterms:modified>
</cp:coreProperties>
</file>